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6" r:id="rId3"/>
    <p:sldId id="258" r:id="rId4"/>
    <p:sldId id="270" r:id="rId5"/>
    <p:sldId id="272" r:id="rId6"/>
    <p:sldId id="273" r:id="rId7"/>
    <p:sldId id="275" r:id="rId8"/>
    <p:sldId id="276" r:id="rId9"/>
    <p:sldId id="277" r:id="rId10"/>
    <p:sldId id="283" r:id="rId11"/>
    <p:sldId id="265" r:id="rId12"/>
    <p:sldId id="284" r:id="rId13"/>
    <p:sldId id="282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64E8-446C-8B9C-6767-8DF6A9885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A0C11-67E5-F142-DB4E-ABC75751A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B4CA2-ADE3-11C7-D4F5-0C02CCE03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E69CD-0C52-2328-4C64-D1D36C16C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AECC7-041D-6EDA-A28E-1BC1EFD2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1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2865-BB5F-BFA3-746E-9B459CA9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90B50-5E9F-16A7-2F6F-B2559EA33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08ED1-106C-8BC8-4970-B092846B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54D5-5B4B-A27F-0617-FAE403AE2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89582-CF3A-C6F5-8357-3E28EA0D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8BDF-3261-4D98-2510-DC9B56664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997EA-32C4-49BB-A5E8-F20C2086D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DCB83-4A3D-E630-1FE4-546B3683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7BA70-EE88-3AF5-D397-FF758EE4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1166D-F55A-378F-3B0A-81EA7C8D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73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4C36-E4CD-228E-B071-C58358D5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2ACB-B911-5EB2-5779-7E2C5425F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D066B-7E50-300E-7796-F970C583E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BFC96-3638-4C64-480E-161A0BC7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42FBB-1B24-C37C-33D8-9240E243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D4D9-D955-EA7F-C02B-1E05012C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53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847CD-D185-3B06-CFBA-6CC390C0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3B95-41AD-B75B-B46C-0F02220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A4916-6328-4066-7F7F-BA51DDCD6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BBD84-FD39-2B05-3D3B-E612910DB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05C38-2C17-0338-A505-BD9936791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3C85-170F-6335-8024-DBE9DF0E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0F023-72E9-18CA-12DF-C9E138377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6E8DC-FF91-01E6-3A80-C52F3B95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0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EFF9-B026-5788-94A9-F3025E76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FAD27-B29F-D462-CACB-BF78163CE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400C9-4401-5D9F-EFAE-0F528C1DC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5074-E476-ED76-28FF-0DD928F5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7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3E646-A864-38FB-45C3-244BF125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18A909-B2DE-F9D0-F999-85059A41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9CC41-E428-400C-4CE3-B8C9EC4E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20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14A0-25ED-EF97-D2F6-582F007E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A95D3-7239-50FB-624D-8D7657132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F1FA5-65AD-1FD1-B289-831CE5BD3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C14F6-2A5D-31AC-EFBD-D21C6001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0BF24-0184-5A43-6C3B-981895E77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D243B-A130-C380-D44E-881482A8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7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3AC1-BB15-D9A3-4CD2-6BCCEA8C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22DA6-8D55-9949-749F-8DDF1CF5C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D0036-EE89-1ED0-4528-A2BA37D0B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ACD34-ED2E-2B78-D871-4DD72DC2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CBD0A-0802-3B6C-AABC-6B2A6DA0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0D003-6BDB-889F-A287-ADF0DDAC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7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E249-75EA-F8F6-8B56-92496732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1644D-8908-F894-5D8C-953EF2111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74373-5792-370F-2CD3-290DAB6A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C6209-D40A-52B7-9751-E0DE919E4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1DBDC-8AB2-5BB4-71E7-07142ECB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1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57DBB7-DEEB-EDDF-C85B-FDABEA1AF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46976-CF29-BDAB-3122-520F77709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D50C6-9A9C-62C7-783F-FF9D6A09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69D16-2614-4D6C-F95F-EF7698475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78D3F-21EE-FDAA-B49D-A40F2D4D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42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nav Rachna Vidyanatariksha - Manav Rachna Educational Institutions">
            <a:extLst>
              <a:ext uri="{FF2B5EF4-FFF2-40B4-BE49-F238E27FC236}">
                <a16:creationId xmlns:a16="http://schemas.microsoft.com/office/drawing/2014/main" id="{DA56EE78-9C3F-7845-9EF2-96EEBB8F51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29" y="4596370"/>
            <a:ext cx="3742348" cy="21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nav Rachna announces MRNAT 2021 for admission to 100+ courses - Hindustan  Times">
            <a:extLst>
              <a:ext uri="{FF2B5EF4-FFF2-40B4-BE49-F238E27FC236}">
                <a16:creationId xmlns:a16="http://schemas.microsoft.com/office/drawing/2014/main" id="{089EA624-4520-7F4B-8195-8CAA7EB404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3" y="2389150"/>
            <a:ext cx="3505200" cy="220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urses - Explore new edge Courses at Manav Rachna">
            <a:extLst>
              <a:ext uri="{FF2B5EF4-FFF2-40B4-BE49-F238E27FC236}">
                <a16:creationId xmlns:a16="http://schemas.microsoft.com/office/drawing/2014/main" id="{4BFE081B-4D26-1948-B598-AAC2F9BA42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632" y="2519901"/>
            <a:ext cx="3282073" cy="217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nav Rachna International University, Aravalli Campus | Edunuts">
            <a:extLst>
              <a:ext uri="{FF2B5EF4-FFF2-40B4-BE49-F238E27FC236}">
                <a16:creationId xmlns:a16="http://schemas.microsoft.com/office/drawing/2014/main" id="{0B247C89-BA4B-9E4A-B1DE-853BEAF0ED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108" y="100075"/>
            <a:ext cx="3332597" cy="241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ntitled design (1)">
            <a:extLst>
              <a:ext uri="{FF2B5EF4-FFF2-40B4-BE49-F238E27FC236}">
                <a16:creationId xmlns:a16="http://schemas.microsoft.com/office/drawing/2014/main" id="{C1476F4A-AE22-A04D-A3DD-89121DEAAE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648" y="100075"/>
            <a:ext cx="4217897" cy="239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ED3E1F66-616A-654E-9B12-6C27A1F57C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0" y="33972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1C04F10C-4F57-BD4C-90DB-FAFD2185B5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50" y="35496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5D879326-88C5-8F43-9034-478FE58141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050" y="37020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anav Rachna International Institute of Research and Studies - Wikipedia">
            <a:extLst>
              <a:ext uri="{FF2B5EF4-FFF2-40B4-BE49-F238E27FC236}">
                <a16:creationId xmlns:a16="http://schemas.microsoft.com/office/drawing/2014/main" id="{1A9B9F7F-45A0-0045-A348-45989F0B08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077" y="2499704"/>
            <a:ext cx="4405147" cy="202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anav rachana university - Samsung Members">
            <a:extLst>
              <a:ext uri="{FF2B5EF4-FFF2-40B4-BE49-F238E27FC236}">
                <a16:creationId xmlns:a16="http://schemas.microsoft.com/office/drawing/2014/main" id="{03086A82-E0A3-5A43-84FD-FE4B653F9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446" y="4586883"/>
            <a:ext cx="4464302" cy="21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Manav Rachna International University Faridabad - Home | Facebook">
            <a:extLst>
              <a:ext uri="{FF2B5EF4-FFF2-40B4-BE49-F238E27FC236}">
                <a16:creationId xmlns:a16="http://schemas.microsoft.com/office/drawing/2014/main" id="{DC5F85BF-9EA6-5D4D-87B0-D2E0D22AB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3" y="106263"/>
            <a:ext cx="3505200" cy="228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Manav Rachna University - [MRU], Faridabad - Images, Photos, Videos,  Gallery 2022-2023">
            <a:extLst>
              <a:ext uri="{FF2B5EF4-FFF2-40B4-BE49-F238E27FC236}">
                <a16:creationId xmlns:a16="http://schemas.microsoft.com/office/drawing/2014/main" id="{B6184619-859E-6D48-8A27-977A81CDB8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48" y="4595317"/>
            <a:ext cx="3682252" cy="216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84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25276-E246-CA3C-08E0-7D1C16EB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6DD31-7B3B-9324-549C-32EDE1DE1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C2E4C-610D-DECA-161B-F248A405A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23930-28C2-45B3-B7C3-298A5E81EB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F0F0B-F481-1A19-3E08-089DEC5A3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EFE23-2AAD-E657-C586-291B7BA33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9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colab.research.google.com/drive/1YEGh5zaR4uGCVcegC8bXx2q9BvzK0Rcg?usp=shar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09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2737FB-302B-CEFF-E439-CD01D8F6AAB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8286" y="390302"/>
            <a:ext cx="8632190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Deep Learning Model for Cross-Project Software Defect Prediction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B0D7010-D985-0374-63AF-63069569E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440" y="0"/>
            <a:ext cx="3705225" cy="828466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295A5DDC-88B3-5912-B03E-BEA738685027}"/>
              </a:ext>
            </a:extLst>
          </p:cNvPr>
          <p:cNvSpPr txBox="1">
            <a:spLocks/>
          </p:cNvSpPr>
          <p:nvPr/>
        </p:nvSpPr>
        <p:spPr>
          <a:xfrm>
            <a:off x="2481897" y="4949569"/>
            <a:ext cx="7228206" cy="7017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/>
              <a:t>Under the Guidance of </a:t>
            </a:r>
          </a:p>
          <a:p>
            <a:r>
              <a:rPr lang="en-US" sz="2200" b="1" dirty="0"/>
              <a:t>Dr. Yogita </a:t>
            </a:r>
            <a:r>
              <a:rPr lang="en-US" sz="2200" b="1" dirty="0" err="1"/>
              <a:t>Khatari</a:t>
            </a:r>
            <a:endParaRPr lang="en-US" sz="2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AD7626-C211-A3B2-881A-F812A2780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094370"/>
              </p:ext>
            </p:extLst>
          </p:nvPr>
        </p:nvGraphicFramePr>
        <p:xfrm>
          <a:off x="1308358" y="1908431"/>
          <a:ext cx="9575283" cy="2234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1761">
                  <a:extLst>
                    <a:ext uri="{9D8B030D-6E8A-4147-A177-3AD203B41FA5}">
                      <a16:colId xmlns:a16="http://schemas.microsoft.com/office/drawing/2014/main" val="925214112"/>
                    </a:ext>
                  </a:extLst>
                </a:gridCol>
                <a:gridCol w="3191761">
                  <a:extLst>
                    <a:ext uri="{9D8B030D-6E8A-4147-A177-3AD203B41FA5}">
                      <a16:colId xmlns:a16="http://schemas.microsoft.com/office/drawing/2014/main" val="2560000697"/>
                    </a:ext>
                  </a:extLst>
                </a:gridCol>
                <a:gridCol w="3191761">
                  <a:extLst>
                    <a:ext uri="{9D8B030D-6E8A-4147-A177-3AD203B41FA5}">
                      <a16:colId xmlns:a16="http://schemas.microsoft.com/office/drawing/2014/main" val="3039356932"/>
                    </a:ext>
                  </a:extLst>
                </a:gridCol>
              </a:tblGrid>
              <a:tr h="372394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783994"/>
                  </a:ext>
                </a:extLst>
              </a:tr>
              <a:tr h="372394">
                <a:tc>
                  <a:txBody>
                    <a:bodyPr/>
                    <a:lstStyle/>
                    <a:p>
                      <a:r>
                        <a:rPr lang="en-US" dirty="0"/>
                        <a:t>ABHEY SUNDRIYAL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1/24/SET/BCS/073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BTECH 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014960"/>
                  </a:ext>
                </a:extLst>
              </a:tr>
              <a:tr h="372394">
                <a:tc>
                  <a:txBody>
                    <a:bodyPr/>
                    <a:lstStyle/>
                    <a:p>
                      <a:r>
                        <a:rPr lang="en-US" dirty="0"/>
                        <a:t>SURESH JOSHI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1/24/SET/BCS/094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BTECH 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035362"/>
                  </a:ext>
                </a:extLst>
              </a:tr>
              <a:tr h="372394">
                <a:tc>
                  <a:txBody>
                    <a:bodyPr/>
                    <a:lstStyle/>
                    <a:p>
                      <a:r>
                        <a:rPr lang="en-US" dirty="0"/>
                        <a:t>SHIVAM YADAV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1/24/SET/BCS/105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BTECH 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7090"/>
                  </a:ext>
                </a:extLst>
              </a:tr>
              <a:tr h="372394">
                <a:tc>
                  <a:txBody>
                    <a:bodyPr/>
                    <a:lstStyle/>
                    <a:p>
                      <a:r>
                        <a:rPr lang="en-US" dirty="0"/>
                        <a:t>CHANDESH PATWARI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1/24/SET/BCS/110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BTECH 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048221"/>
                  </a:ext>
                </a:extLst>
              </a:tr>
              <a:tr h="372394">
                <a:tc>
                  <a:txBody>
                    <a:bodyPr/>
                    <a:lstStyle/>
                    <a:p>
                      <a:r>
                        <a:rPr lang="en-US" dirty="0"/>
                        <a:t>AKSHITA RAWAT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1/24/SET/BCS/291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BTECH 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27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96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A692-BF3E-93F8-20D5-42E1B47B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470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E680A1-5177-2DB3-27DA-EB511937B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440" y="139952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type 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/ Flowchart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of your project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 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Solution / Outcomes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D24E9E9-ED27-2835-27DE-BA3159F6E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935" y="77788"/>
            <a:ext cx="3705225" cy="8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5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A95E-9046-E6B3-365E-5D698CF9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4E0E-950A-9A42-C7D5-6ADAD450E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855186"/>
            <a:ext cx="9715500" cy="45116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1: Introduction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6AA74C6-18C5-5E69-2387-582FC11AC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978" y="1700853"/>
            <a:ext cx="11425022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defects reduce reliability and increase maintenance cost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fail to generalize across projects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Within-Project Prediction gives misleading accuracy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Cross-Project Defect Prediction (CPDP)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more realistic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Predict defects in unseen projects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4AD3D5B-C6A2-E165-19F3-911A2124C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24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2D550-8967-3A8B-4F63-95FFAD32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47D9-1700-958C-0C58-DE77CCD5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855186"/>
            <a:ext cx="9715500" cy="45116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2: 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9D3531B-C7C8-5E9A-24FE-7F84BDCF27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763" y="1949516"/>
            <a:ext cx="9385903" cy="260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(more non-defective than defective modules)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 shift between projects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generalization of existing models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F1 but low real predictive power (biased models)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0A43CAD-B37B-7B3C-312E-6BF94D1DD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5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AFFE2-455C-8487-1EB2-AB432D5B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7AEB-2543-C0A6-20B8-01CDDDD1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855186"/>
            <a:ext cx="9715500" cy="45116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3: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E39D9D-1AE3-5774-8E27-87D9BA8564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4045" y="1449069"/>
            <a:ext cx="7033629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cross-project defect prediction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class imbalance effectively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generalized deep learning model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MCC, AUC, F1-score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across datasets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A88E455-386D-6175-1725-2DD7AA67B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4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EC16F-C48A-5AB1-49C2-B643F85B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F171-C41F-BD67-97DC-61FAE8C92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855186"/>
            <a:ext cx="9715500" cy="45116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4: Innovation Type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DC5801-E6CF-6A80-B8EC-D5F94DD457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7019" y="1520856"/>
            <a:ext cx="6256286" cy="4229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+ Improved Solution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architecture: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CNN </a:t>
            </a:r>
          </a:p>
          <a:p>
            <a:pPr lvl="2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Attention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innovations: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Loss (handles imbalance)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class weights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tuning for best F1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Cross-project validation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EBAA15DD-7F05-0A4C-0C7B-6068CE8A5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79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8508-63CB-D4FC-7135-3CDECB590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31940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5: Methodology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0D8551-AFD7-D0FA-54A8-3EADBA833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40A7EE68-9530-51B4-6C5E-2ED4C0663F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0319" y="1147871"/>
            <a:ext cx="1051560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dataset and preprocess the data (convert labels, normalize values, and prepare input format)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on multiple projects and test it on a different unseen project (cross-project approach)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using MCC, AUC, and F1-score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 hybrid deep learning model combining CNN (for feature extraction),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sequence understanding), and Attention (to focus on important features)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Adam optimizer, apply focal loss to handle imbalance, and use early stopping to avoid overfitting </a:t>
            </a:r>
          </a:p>
        </p:txBody>
      </p:sp>
    </p:spTree>
    <p:extLst>
      <p:ext uri="{BB962C8B-B14F-4D97-AF65-F5344CB8AC3E}">
        <p14:creationId xmlns:p14="http://schemas.microsoft.com/office/powerpoint/2010/main" val="403804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0C7D-706B-2540-3635-61639E52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1949-CD31-D8D6-96F0-46E7E756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https://colab.research.google.com/drive/1YEGh5zaR4uGCVcegC8bXx2q9BvzK0Rcg?usp=sharing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6EC676A-7948-94A0-0192-A96F4CD88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20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3C945-B662-4CA8-8460-622BEB346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CD56-9D64-A637-06C7-FDB31F20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94" y="2713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7: Results and Key Findings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230B1-DAA8-CB02-AB97-6929AACE3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024" y="1475549"/>
            <a:ext cx="3001348" cy="3413692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 (Primary Metric)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robust for imbalanced data 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ranking ability 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balance of precision &amp; recall 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MCC than baseline models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Balanced prediction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class imbalance better.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75D9C2F-288B-4243-1995-3BB60E4ED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D90637-531B-58EA-16D7-A5EFC612E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497202"/>
              </p:ext>
            </p:extLst>
          </p:nvPr>
        </p:nvGraphicFramePr>
        <p:xfrm>
          <a:off x="287693" y="1367343"/>
          <a:ext cx="8688354" cy="4798803"/>
        </p:xfrm>
        <a:graphic>
          <a:graphicData uri="http://schemas.openxmlformats.org/drawingml/2006/table">
            <a:tbl>
              <a:tblPr/>
              <a:tblGrid>
                <a:gridCol w="1059558">
                  <a:extLst>
                    <a:ext uri="{9D8B030D-6E8A-4147-A177-3AD203B41FA5}">
                      <a16:colId xmlns:a16="http://schemas.microsoft.com/office/drawing/2014/main" val="3259000457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833464330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2203841290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3055032196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3504920972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293308274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1754076345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3066099806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3509210204"/>
                    </a:ext>
                  </a:extLst>
                </a:gridCol>
                <a:gridCol w="847644">
                  <a:extLst>
                    <a:ext uri="{9D8B030D-6E8A-4147-A177-3AD203B41FA5}">
                      <a16:colId xmlns:a16="http://schemas.microsoft.com/office/drawing/2014/main" val="1871063728"/>
                    </a:ext>
                  </a:extLst>
                </a:gridCol>
              </a:tblGrid>
              <a:tr h="810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(CNN-LSTM-Dense)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(CNN-Transformer)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(Multi-scale CNN + BiLSTM + Multi-head Attention)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556743"/>
                  </a:ext>
                </a:extLst>
              </a:tr>
              <a:tr h="3041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FM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FM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FM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464539"/>
                  </a:ext>
                </a:extLst>
              </a:tr>
              <a:tr h="3041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0.8948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0.3211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0.8948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0.3217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0.7655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0.4368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0.4695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0.7889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500232"/>
                  </a:ext>
                </a:extLst>
              </a:tr>
              <a:tr h="3041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0.8259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0.1765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0.7381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0.1733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0.7537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0.2804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0.6286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560155"/>
                  </a:ext>
                </a:extLst>
              </a:tr>
              <a:tr h="3041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PDE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0.8337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0.3104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0.8382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0.3062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0.7402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0.2517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0.2093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0.7155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039365"/>
                  </a:ext>
                </a:extLst>
              </a:tr>
              <a:tr h="3041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0.5288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0.2192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0.5561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0.5695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0.2982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0.6749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0.1958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0.2613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0.8247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826592"/>
                  </a:ext>
                </a:extLst>
              </a:tr>
              <a:tr h="3041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JDT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0.8174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0.4326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0.825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0.3758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0.7798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0.4803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0.4389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0.8194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674760"/>
                  </a:ext>
                </a:extLst>
              </a:tr>
              <a:tr h="3041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0.7801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0.7234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0.7841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0.2931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0.7372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0.3196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0.7554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506963"/>
                  </a:ext>
                </a:extLst>
              </a:tr>
              <a:tr h="3041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199856"/>
                  </a:ext>
                </a:extLst>
              </a:tr>
              <a:tr h="1459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52200"/>
                  </a:ext>
                </a:extLst>
              </a:tr>
              <a:tr h="1459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1" marR="5831" marT="583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306695"/>
                  </a:ext>
                </a:extLst>
              </a:tr>
              <a:tr h="2737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(CNN-LSTM-Dense)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(CNN-Transformer)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(Multi-scale CNN + BiLSTM + Multi-head Attention)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801540"/>
                  </a:ext>
                </a:extLst>
              </a:tr>
              <a:tr h="1459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FM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FM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FM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AUC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107008"/>
                  </a:ext>
                </a:extLst>
              </a:tr>
              <a:tr h="1459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0.7193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0.4217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0.7941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0.7609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0.5027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0.8048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0.7404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0.446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691395"/>
                  </a:ext>
                </a:extLst>
              </a:tr>
              <a:tr h="1113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Zxing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0.6543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0.155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0.6208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0.6196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0.0932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0.6201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0.6667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0.5027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0.7594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704059"/>
                  </a:ext>
                </a:extLst>
              </a:tr>
              <a:tr h="1459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Apache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0.6773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0.6707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0.7004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0.4029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0.7298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0.4609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0.0615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0.588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986706"/>
                  </a:ext>
                </a:extLst>
              </a:tr>
              <a:tr h="1459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5831" marR="5831" marT="58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0.6836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0.3156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0.6952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0.6937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0.3329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0.7183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0.6227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0.3367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0.7071</a:t>
                      </a:r>
                    </a:p>
                  </a:txBody>
                  <a:tcPr marL="5831" marR="5831" marT="5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430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53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D1FD-C073-FDF2-1687-C3C1517E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99" y="17595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8: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98361-8548-8991-FC09-97F29DF02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endParaRPr lang="en-US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75E42D5D-90FE-BEAE-0B1D-119DA05E3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5C169BDB-5598-AB2A-76D7-B0E111E8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09901"/>
            <a:ext cx="900220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 completed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 on AEEEM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ReLink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improved MCC performance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writing in progress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mplemented cross-project validation framework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824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7AFC8-25DF-0078-D59E-F2F755FD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D477-A9CC-8D1B-7107-2204940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487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9: Expected Outcomes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065549E-60FD-381A-1EA5-4F6935D0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7AB5C10-29B2-7DFF-A2B9-EE61CA6D3B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2038" y="1669211"/>
            <a:ext cx="9196748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defect prediction across projects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generalization on unseen data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developers identify high-risk modules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research publication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for future work (transfer learning, domain adaptation) </a:t>
            </a:r>
          </a:p>
        </p:txBody>
      </p:sp>
    </p:spTree>
    <p:extLst>
      <p:ext uri="{BB962C8B-B14F-4D97-AF65-F5344CB8AC3E}">
        <p14:creationId xmlns:p14="http://schemas.microsoft.com/office/powerpoint/2010/main" val="366417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7FE5-6EA5-9B9F-26D9-93283C34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A29B-F80B-4A32-994E-4C738D1FE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14: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3CC0-3B71-7839-2716-FCE858D98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131"/>
            <a:ext cx="10515600" cy="4351338"/>
          </a:xfrm>
        </p:spPr>
        <p:txBody>
          <a:bodyPr/>
          <a:lstStyle/>
          <a:p>
            <a:endParaRPr lang="en-US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7C8CACB8-F40C-3642-E1E0-FB3C1EDB0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26720"/>
            <a:ext cx="3705225" cy="82846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7D50015-2007-BCB3-5BB0-E2538417E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646" y="1690688"/>
            <a:ext cx="575676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800" dirty="0"/>
              <a:t>AEEEM Dataset (D’Ambros et al.)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800" dirty="0"/>
              <a:t>ReLink Dataset (Wu et al.)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800" dirty="0"/>
              <a:t>ROC Analysis – Fawcett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800" dirty="0"/>
              <a:t>MCC – Matthews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405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689BC4C-251C-8983-8918-BECF47F38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54" y="806195"/>
            <a:ext cx="7745969" cy="172347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A0E4A-417B-CD4C-9256-4F3BE4CA6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315" y="3046943"/>
            <a:ext cx="7745969" cy="1408222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67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65283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1561</TotalTime>
  <Words>653</Words>
  <Application>Microsoft Office PowerPoint</Application>
  <PresentationFormat>Widescreen</PresentationFormat>
  <Paragraphs>236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A Hybrid Deep Learning Model for Cross-Project Software Defect Prediction</vt:lpstr>
      <vt:lpstr>Content</vt:lpstr>
      <vt:lpstr>Slide 1: Introduction</vt:lpstr>
      <vt:lpstr>Slide 2: Problem Statement</vt:lpstr>
      <vt:lpstr>Slide 3: Objectives</vt:lpstr>
      <vt:lpstr>Slide 4: Innovation Type</vt:lpstr>
      <vt:lpstr>Slide 5: Methodology</vt:lpstr>
      <vt:lpstr>Slide 6: Demo</vt:lpstr>
      <vt:lpstr>Slide 7: Results and Key Findings</vt:lpstr>
      <vt:lpstr>Slide 8: Achievements</vt:lpstr>
      <vt:lpstr>Slide 9: Expected Outcomes </vt:lpstr>
      <vt:lpstr>Slide 14: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 bura</dc:creator>
  <cp:lastModifiedBy>Chandesh Patwari</cp:lastModifiedBy>
  <cp:revision>24</cp:revision>
  <dcterms:created xsi:type="dcterms:W3CDTF">2023-05-04T03:53:33Z</dcterms:created>
  <dcterms:modified xsi:type="dcterms:W3CDTF">2026-04-26T19:56:35Z</dcterms:modified>
</cp:coreProperties>
</file>